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odemonk/Desktop/Harness/.agent-scratch/sentinel/deck/out/assets/glass-facad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A">
              <a:alpha val="7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6339682" cy="6858000"/>
          </a:xfrm>
          <a:prstGeom prst="rect">
            <a:avLst/>
          </a:prstGeom>
          <a:solidFill>
            <a:srgbClr val="06080A">
              <a:alpha val="9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361188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EXECUTION PLATFORM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85800" y="3886200"/>
            <a:ext cx="899129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Sentinel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685800" y="5486400"/>
            <a:ext cx="807689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DE3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plain-English goal becomes an execution plan, runs across real applications, and returns a finished deliverable with a record of every step.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899855" y="649224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EB8C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Photograph: Unsplash, via Lorem Picsum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737360"/>
            <a:ext cx="1005840" cy="54864"/>
          </a:xfrm>
          <a:prstGeom prst="rect">
            <a:avLst/>
          </a:prstGeom>
          <a:solidFill>
            <a:srgbClr val="F2B0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011680"/>
            <a:ext cx="9539935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 in. Executed work out. A ledger that says what happened at every step.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502920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3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Solution description for SDSI · October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6455664"/>
            <a:ext cx="1036289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80" kern="0" dirty="0">
                <a:solidFill>
                  <a:srgbClr val="A8B3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SENTINEL SOLUTION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40135" y="6455664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3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1045433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engine, not one platform per use case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316736"/>
            <a:ext cx="4769968" cy="3931920"/>
          </a:xfrm>
          <a:prstGeom prst="rect">
            <a:avLst/>
          </a:prstGeom>
          <a:solidFill>
            <a:srgbClr val="101214"/>
          </a:solidFill>
          <a:ln w="12700">
            <a:solidFill>
              <a:srgbClr val="2A2F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517904"/>
            <a:ext cx="412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A8B3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AN ENGINE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" y="1865376"/>
            <a:ext cx="41298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platform per use case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05840" y="2916936"/>
            <a:ext cx="41298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8B3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 Each use case arrives with its own agent platform and its own integration work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05840" y="3483864"/>
            <a:ext cx="41298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8B3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 Agents and people are coordinated by hand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4050792"/>
            <a:ext cx="41298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8B3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 No shared record of what ran, what failed or what was verified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38648" y="2871216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2B0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6735928" y="1316736"/>
            <a:ext cx="4769968" cy="3931920"/>
          </a:xfrm>
          <a:prstGeom prst="rect">
            <a:avLst/>
          </a:prstGeom>
          <a:solidFill>
            <a:srgbClr val="1A1D21"/>
          </a:solidFill>
          <a:ln w="12700">
            <a:solidFill>
              <a:srgbClr val="2A2F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55968" y="1517904"/>
            <a:ext cx="412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2B0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SENTINEL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055968" y="1865376"/>
            <a:ext cx="41298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new workflow is a new use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055968" y="2916936"/>
            <a:ext cx="41298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8B3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 One engine compiles intent, executes it and accounts for it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55968" y="3483864"/>
            <a:ext cx="41298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8B3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 Hive plans and delegates while desktop control stays central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055968" y="4050792"/>
            <a:ext cx="41298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8B3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 The execution ledger holds actions, outcomes and timestamps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" y="6455664"/>
            <a:ext cx="1036289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80" kern="0" dirty="0">
                <a:solidFill>
                  <a:srgbClr val="A8B3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SENTINEL SOLUTION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140135" y="6455664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3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1045433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subsystems in four layers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85800" y="145389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A8B3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 &amp; PLANNING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2560320" y="1508760"/>
            <a:ext cx="4390492" cy="799917"/>
          </a:xfrm>
          <a:prstGeom prst="rect">
            <a:avLst/>
          </a:prstGeom>
          <a:solidFill>
            <a:srgbClr val="1A1D21"/>
          </a:solidFill>
          <a:ln w="12700">
            <a:solidFill>
              <a:srgbClr val="2A2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70048" y="1581912"/>
            <a:ext cx="41710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Compilation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670048" y="1892808"/>
            <a:ext cx="4171036" cy="5554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3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Instructions become steps, dependencies, parallel branches and rules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15404" y="1508760"/>
            <a:ext cx="4390492" cy="799917"/>
          </a:xfrm>
          <a:prstGeom prst="rect">
            <a:avLst/>
          </a:prstGeom>
          <a:solidFill>
            <a:srgbClr val="1A1D21"/>
          </a:solidFill>
          <a:ln w="12700">
            <a:solidFill>
              <a:srgbClr val="2A2F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5132" y="1581912"/>
            <a:ext cx="41710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Hive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225132" y="1892808"/>
            <a:ext cx="4171036" cy="5554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3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lead agent plans and delegates; desktop control stays central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" y="25648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A8B3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 &amp; CONTROL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60320" y="2619756"/>
            <a:ext cx="8945575" cy="799917"/>
          </a:xfrm>
          <a:prstGeom prst="rect">
            <a:avLst/>
          </a:prstGeom>
          <a:solidFill>
            <a:srgbClr val="1A1D21"/>
          </a:solidFill>
          <a:ln w="12700">
            <a:solidFill>
              <a:srgbClr val="2A2F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0048" y="2692908"/>
            <a:ext cx="872611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AXIS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670048" y="3003804"/>
            <a:ext cx="8726119" cy="5554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3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Reads accessibility information from native apps, interacts and verifies as it works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85800" y="36758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A8B3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60320" y="3730752"/>
            <a:ext cx="8945575" cy="799917"/>
          </a:xfrm>
          <a:prstGeom prst="rect">
            <a:avLst/>
          </a:prstGeom>
          <a:solidFill>
            <a:srgbClr val="1A1D21"/>
          </a:solidFill>
          <a:ln w="12700">
            <a:solidFill>
              <a:srgbClr val="2A2F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70048" y="3803904"/>
            <a:ext cx="872611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BIFROST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670048" y="4114800"/>
            <a:ext cx="8726119" cy="5554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3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Links handheld devices and desktops for remote access, supervision and tasking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85800" y="478688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A8B3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&amp; ACCOUNTABILITY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60320" y="4841748"/>
            <a:ext cx="4390492" cy="799917"/>
          </a:xfrm>
          <a:prstGeom prst="rect">
            <a:avLst/>
          </a:prstGeom>
          <a:solidFill>
            <a:srgbClr val="1A1D21"/>
          </a:solidFill>
          <a:ln w="12700">
            <a:solidFill>
              <a:srgbClr val="2A2F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70048" y="4914900"/>
            <a:ext cx="41710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Deliverable Generation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670048" y="5225796"/>
            <a:ext cx="4171036" cy="5554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3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Documents, presentations and spreadsheets, not a chat reply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115404" y="4841748"/>
            <a:ext cx="4390492" cy="799917"/>
          </a:xfrm>
          <a:prstGeom prst="rect">
            <a:avLst/>
          </a:prstGeom>
          <a:solidFill>
            <a:srgbClr val="1A1D21"/>
          </a:solidFill>
          <a:ln w="12700">
            <a:solidFill>
              <a:srgbClr val="2A2F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5132" y="4914900"/>
            <a:ext cx="41710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 Ledger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225132" y="5225796"/>
            <a:ext cx="4171036" cy="5554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3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Actions, outcomes, timestamps, step statuses; failures surface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85800" y="6455664"/>
            <a:ext cx="1036289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80" kern="0" dirty="0">
                <a:solidFill>
                  <a:srgbClr val="A8B3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SENTINEL SOLUTION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140135" y="6455664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3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1045433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a written goal to a finished deliverable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2002536"/>
            <a:ext cx="10820095" cy="0"/>
          </a:xfrm>
          <a:prstGeom prst="line">
            <a:avLst/>
          </a:prstGeom>
          <a:noFill/>
          <a:ln w="12700">
            <a:solidFill>
              <a:srgbClr val="2A2F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" y="1911096"/>
            <a:ext cx="182880" cy="182880"/>
          </a:xfrm>
          <a:prstGeom prst="ellipse">
            <a:avLst/>
          </a:prstGeom>
          <a:solidFill>
            <a:srgbClr val="F2B01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99616"/>
            <a:ext cx="17616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B0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2276856"/>
            <a:ext cx="1715963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3054096"/>
            <a:ext cx="1670243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8B3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goal in plain English. No code and no configuration language.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922971" y="1911096"/>
            <a:ext cx="182880" cy="182880"/>
          </a:xfrm>
          <a:prstGeom prst="ellipse">
            <a:avLst/>
          </a:prstGeom>
          <a:solidFill>
            <a:srgbClr val="F2B01E"/>
          </a:solidFill>
          <a:ln/>
        </p:spPr>
      </p:sp>
      <p:sp>
        <p:nvSpPr>
          <p:cNvPr id="9" name="Text 7"/>
          <p:cNvSpPr/>
          <p:nvPr/>
        </p:nvSpPr>
        <p:spPr>
          <a:xfrm>
            <a:off x="2904683" y="1499616"/>
            <a:ext cx="17616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B0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04683" y="2276856"/>
            <a:ext cx="1715963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Compile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04683" y="3054096"/>
            <a:ext cx="1670243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8B3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Compilation builds steps, dependencies, parallel branches and execution rules.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141854" y="1911096"/>
            <a:ext cx="182880" cy="182880"/>
          </a:xfrm>
          <a:prstGeom prst="ellipse">
            <a:avLst/>
          </a:prstGeom>
          <a:solidFill>
            <a:srgbClr val="F2B01E"/>
          </a:solidFill>
          <a:ln/>
        </p:spPr>
      </p:sp>
      <p:sp>
        <p:nvSpPr>
          <p:cNvPr id="13" name="Text 11"/>
          <p:cNvSpPr/>
          <p:nvPr/>
        </p:nvSpPr>
        <p:spPr>
          <a:xfrm>
            <a:off x="5123566" y="1499616"/>
            <a:ext cx="17616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B0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23566" y="2276856"/>
            <a:ext cx="1715963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123566" y="3054096"/>
            <a:ext cx="1670243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8B3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Hive plans and delegates to several agents; desktop control stays authorised centrally.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60737" y="1911096"/>
            <a:ext cx="182880" cy="182880"/>
          </a:xfrm>
          <a:prstGeom prst="ellipse">
            <a:avLst/>
          </a:prstGeom>
          <a:solidFill>
            <a:srgbClr val="F2B01E"/>
          </a:solidFill>
          <a:ln/>
        </p:spPr>
      </p:sp>
      <p:sp>
        <p:nvSpPr>
          <p:cNvPr id="17" name="Text 15"/>
          <p:cNvSpPr/>
          <p:nvPr/>
        </p:nvSpPr>
        <p:spPr>
          <a:xfrm>
            <a:off x="7342449" y="1499616"/>
            <a:ext cx="17616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B0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42449" y="2276856"/>
            <a:ext cx="1715963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 and verify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42449" y="3054096"/>
            <a:ext cx="1670243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8B3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AXIS works inside the applications the task lives in and verifies each result.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579620" y="1911096"/>
            <a:ext cx="182880" cy="182880"/>
          </a:xfrm>
          <a:prstGeom prst="ellipse">
            <a:avLst/>
          </a:prstGeom>
          <a:solidFill>
            <a:srgbClr val="F2B01E"/>
          </a:solidFill>
          <a:ln/>
        </p:spPr>
      </p:sp>
      <p:sp>
        <p:nvSpPr>
          <p:cNvPr id="21" name="Text 19"/>
          <p:cNvSpPr/>
          <p:nvPr/>
        </p:nvSpPr>
        <p:spPr>
          <a:xfrm>
            <a:off x="9561332" y="1499616"/>
            <a:ext cx="17616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B0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561332" y="2276856"/>
            <a:ext cx="1715963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561332" y="3054096"/>
            <a:ext cx="1670243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8B3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deliverable is produced from what execution gathered; the ledger records each step.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5800" y="6455664"/>
            <a:ext cx="1036289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80" kern="0" dirty="0">
                <a:solidFill>
                  <a:srgbClr val="A8B3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SENTINEL SOLUTION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140135" y="6455664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3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odemonk/Desktop/Harness/.agent-scratch/sentinel/deck/out/assets/tool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5848" y="0"/>
            <a:ext cx="609584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868680"/>
            <a:ext cx="4724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2B0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AXIS AND HIVE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31520" y="1143000"/>
            <a:ext cx="472424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desktop is the API.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31520" y="2331720"/>
            <a:ext cx="47242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8B3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AXIS reads accessibility information from the native interfaces of desktop applications. It identifies elements, interacts with them and verifies the result as it works.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31520" y="3200400"/>
            <a:ext cx="47242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8B3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Verification happens inside the same loop, so a step that did not land is caught rather than assumed.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31520" y="4151376"/>
            <a:ext cx="91440" cy="91440"/>
          </a:xfrm>
          <a:prstGeom prst="rect">
            <a:avLst/>
          </a:prstGeom>
          <a:solidFill>
            <a:srgbClr val="F2B0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4069080"/>
            <a:ext cx="444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lead agent plans the work and delegates to several agents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31520" y="4608576"/>
            <a:ext cx="91440" cy="91440"/>
          </a:xfrm>
          <a:prstGeom prst="rect">
            <a:avLst/>
          </a:prstGeom>
          <a:solidFill>
            <a:srgbClr val="F2B0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4526280"/>
            <a:ext cx="444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runs in parallel while desktop control stays centrally authorised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31520" y="5532120"/>
            <a:ext cx="47242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A8B3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BIFROST extends remote access, supervision and tasking to paired handheld devices.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85800" y="6455664"/>
            <a:ext cx="1036289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80" kern="0" dirty="0">
                <a:solidFill>
                  <a:srgbClr val="A8B3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SENTINEL SOLUTION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1140135" y="6455664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3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1045433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categories, one engine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08176"/>
          <a:ext cx="10820095" cy="914400"/>
        </p:xfrm>
        <a:graphic>
          <a:graphicData uri="http://schemas.openxmlformats.org/drawingml/2006/table">
            <a:tbl>
              <a:tblPr/>
              <a:tblGrid>
                <a:gridCol w="2380421"/>
                <a:gridCol w="4111636"/>
                <a:gridCol w="4328038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8B3C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Category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8B3C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goes in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8B3C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comes out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6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Security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6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Suspicious email and message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6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Phishing indicators, classification, review-ready findings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6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Vendor operations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6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Vendor correspondence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6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Extracted fields, classified requests, structured records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6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Productivity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6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Repetitive multi-step tasks across apps and sources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6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completed task, not instructions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6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Workflow automation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6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business procedure with steps and rules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6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 executed procedure with checkpoints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6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Document processing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6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Source material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6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Organised, usable business deliverables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6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Cross-device automation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6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handheld and desktop pair, linked by BIFROST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F6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Remote control, supervision and tasking in both directions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85800" y="5989320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A8B3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the objective, the inputs and the rules change from row to row.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85800" y="6455664"/>
            <a:ext cx="1036289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80" kern="0" dirty="0">
                <a:solidFill>
                  <a:srgbClr val="A8B3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SENTINEL SOLUTION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1140135" y="6455664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3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1045433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Counted, not estimated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408176"/>
            <a:ext cx="10820095" cy="0"/>
          </a:xfrm>
          <a:prstGeom prst="line">
            <a:avLst/>
          </a:prstGeom>
          <a:noFill/>
          <a:ln w="12700">
            <a:solidFill>
              <a:srgbClr val="2A2F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08176"/>
            <a:ext cx="384048" cy="54864"/>
          </a:xfrm>
          <a:prstGeom prst="rect">
            <a:avLst/>
          </a:prstGeom>
          <a:solidFill>
            <a:srgbClr val="F2B0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82496"/>
            <a:ext cx="233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8B3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 SUBSYSTEMS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85800" y="2002536"/>
            <a:ext cx="2330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85800" y="3008376"/>
            <a:ext cx="233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0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 to audit trail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328416"/>
            <a:ext cx="233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3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Compilation, Hive, AXIS, BIFROST, Deliverable Generation, Execution Ledger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54832" y="1408176"/>
            <a:ext cx="384048" cy="54864"/>
          </a:xfrm>
          <a:prstGeom prst="rect">
            <a:avLst/>
          </a:prstGeom>
          <a:solidFill>
            <a:srgbClr val="F2B0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4832" y="1682496"/>
            <a:ext cx="233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8B3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CATEGORIES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54832" y="2002536"/>
            <a:ext cx="2330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3454832" y="3008376"/>
            <a:ext cx="233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0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engine in each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54832" y="3328416"/>
            <a:ext cx="233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3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Security, vendor operations, productivity, workflow, documents, cross-device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23864" y="1408176"/>
            <a:ext cx="384048" cy="54864"/>
          </a:xfrm>
          <a:prstGeom prst="rect">
            <a:avLst/>
          </a:prstGeom>
          <a:solidFill>
            <a:srgbClr val="F2B0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23864" y="1682496"/>
            <a:ext cx="233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8B3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WORKFLOWS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23864" y="2002536"/>
            <a:ext cx="2330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6223864" y="3008376"/>
            <a:ext cx="233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0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in two days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23864" y="3328416"/>
            <a:ext cx="233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3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Phishing triage and vendor mail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92895" y="1408176"/>
            <a:ext cx="384048" cy="54864"/>
          </a:xfrm>
          <a:prstGeom prst="rect">
            <a:avLst/>
          </a:prstGeom>
          <a:solidFill>
            <a:srgbClr val="F2B0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92895" y="1682496"/>
            <a:ext cx="233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8B3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DAYS TO BUILD THEM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992895" y="2002536"/>
            <a:ext cx="2330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5400" dirty="0"/>
          </a:p>
        </p:txBody>
      </p:sp>
      <p:sp>
        <p:nvSpPr>
          <p:cNvPr id="22" name="Text 20"/>
          <p:cNvSpPr/>
          <p:nvPr/>
        </p:nvSpPr>
        <p:spPr>
          <a:xfrm>
            <a:off x="8992895" y="3008376"/>
            <a:ext cx="233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0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after the other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92895" y="3328416"/>
            <a:ext cx="233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3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 phishing triage, Day 2 vendor mail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6455664"/>
            <a:ext cx="1036289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80" kern="0" dirty="0">
                <a:solidFill>
                  <a:srgbClr val="A8B3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SENTINEL SOLUTION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140135" y="6455664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3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1045433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working workflows in two days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2734056"/>
            <a:ext cx="10820095" cy="0"/>
          </a:xfrm>
          <a:prstGeom prst="line">
            <a:avLst/>
          </a:prstGeom>
          <a:noFill/>
          <a:ln w="12700">
            <a:solidFill>
              <a:srgbClr val="2A2F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5508" y="2679192"/>
            <a:ext cx="109728" cy="109728"/>
          </a:xfrm>
          <a:prstGeom prst="ellipse">
            <a:avLst/>
          </a:prstGeom>
          <a:solidFill>
            <a:srgbClr val="F2B01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139696"/>
            <a:ext cx="33323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B0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2962656"/>
            <a:ext cx="328665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Phishing triage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3694176"/>
            <a:ext cx="328665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8B3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Processes email data, classifies messages against defined criteria and organises the results into deliverables.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42206" y="2679192"/>
            <a:ext cx="109728" cy="109728"/>
          </a:xfrm>
          <a:prstGeom prst="ellipse">
            <a:avLst/>
          </a:prstGeom>
          <a:solidFill>
            <a:srgbClr val="F2B01E"/>
          </a:solidFill>
          <a:ln/>
        </p:spPr>
      </p:sp>
      <p:sp>
        <p:nvSpPr>
          <p:cNvPr id="9" name="Text 7"/>
          <p:cNvSpPr/>
          <p:nvPr/>
        </p:nvSpPr>
        <p:spPr>
          <a:xfrm>
            <a:off x="4292498" y="2139696"/>
            <a:ext cx="33323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B0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Day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2498" y="2962656"/>
            <a:ext cx="328665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Vendor mail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92498" y="3694176"/>
            <a:ext cx="328665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8B3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same platform approach on vendor correspondence: extracted fields, classified requests, structured records.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48905" y="2679192"/>
            <a:ext cx="109728" cy="109728"/>
          </a:xfrm>
          <a:prstGeom prst="ellipse">
            <a:avLst/>
          </a:prstGeom>
          <a:solidFill>
            <a:srgbClr val="F2B01E"/>
          </a:solidFill>
          <a:ln/>
        </p:spPr>
      </p:sp>
      <p:sp>
        <p:nvSpPr>
          <p:cNvPr id="13" name="Text 11"/>
          <p:cNvSpPr/>
          <p:nvPr/>
        </p:nvSpPr>
        <p:spPr>
          <a:xfrm>
            <a:off x="7899197" y="2139696"/>
            <a:ext cx="33323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B0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D-Day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899197" y="2962656"/>
            <a:ext cx="328665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Additional workflows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899197" y="3694176"/>
            <a:ext cx="328665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8B3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workflows on the same engine, extending it across the six categories.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5800" y="6455664"/>
            <a:ext cx="1036289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80" kern="0" dirty="0">
                <a:solidFill>
                  <a:srgbClr val="A8B3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SENTINEL SOLUTION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140135" y="6455664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3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822960"/>
            <a:ext cx="108200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B0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CLOSING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94484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platform. One solution. Infinite possibilities.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10820095" cy="0"/>
          </a:xfrm>
          <a:prstGeom prst="line">
            <a:avLst/>
          </a:prstGeom>
          <a:noFill/>
          <a:ln w="9525">
            <a:solidFill>
              <a:srgbClr val="2A2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54203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B0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2432304"/>
            <a:ext cx="99971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Describe the work: plain English in, compiled workflow out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85800" y="3429000"/>
            <a:ext cx="10820095" cy="0"/>
          </a:xfrm>
          <a:prstGeom prst="line">
            <a:avLst/>
          </a:prstGeom>
          <a:noFill/>
          <a:ln w="9525">
            <a:solidFill>
              <a:srgbClr val="2A2F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68503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B0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3575304"/>
            <a:ext cx="99971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engine, not one platform per use case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85800" y="4572000"/>
            <a:ext cx="10820095" cy="0"/>
          </a:xfrm>
          <a:prstGeom prst="line">
            <a:avLst/>
          </a:prstGeom>
          <a:noFill/>
          <a:ln w="9525">
            <a:solidFill>
              <a:srgbClr val="2A2F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482803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B0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4718304"/>
            <a:ext cx="99971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with an auditable record of every step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85800" y="6455664"/>
            <a:ext cx="1036289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80" kern="0" dirty="0">
                <a:solidFill>
                  <a:srgbClr val="A8B3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SENTINEL SOLUTION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140135" y="6455664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3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80160"/>
            <a:ext cx="9905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with two workflows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685800" y="2450592"/>
            <a:ext cx="146304" cy="146304"/>
          </a:xfrm>
          <a:prstGeom prst="rect">
            <a:avLst/>
          </a:prstGeom>
          <a:solidFill>
            <a:srgbClr val="F2B0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2377440"/>
            <a:ext cx="104543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the two pilot workflows with SDSI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3163824"/>
            <a:ext cx="146304" cy="146304"/>
          </a:xfrm>
          <a:prstGeom prst="rect">
            <a:avLst/>
          </a:prstGeom>
          <a:solidFill>
            <a:srgbClr val="F2B0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3090672"/>
            <a:ext cx="104543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the four measures: completion time, manual intervention, execution accuracy, effort per workflow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85800" y="3877056"/>
            <a:ext cx="146304" cy="146304"/>
          </a:xfrm>
          <a:prstGeom prst="rect">
            <a:avLst/>
          </a:prstGeom>
          <a:solidFill>
            <a:srgbClr val="F2B0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803904"/>
            <a:ext cx="104543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the execution ledger after the pilot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58064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6F8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results are claimed yet. The pilot is where the four measures begin.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6455664"/>
            <a:ext cx="1036289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80" kern="0" dirty="0">
                <a:solidFill>
                  <a:srgbClr val="F4F6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SENTINEL SOLUTION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40135" y="6455664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4F6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SDSI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 solution</dc:title>
  <dc:subject>Solution description</dc:subject>
  <dc:creator>Sentinel</dc:creator>
  <cp:lastModifiedBy>Sentinel</cp:lastModifiedBy>
  <cp:revision>1</cp:revision>
  <dcterms:created xsi:type="dcterms:W3CDTF">2026-10-24T14:26:26Z</dcterms:created>
  <dcterms:modified xsi:type="dcterms:W3CDTF">2026-10-24T14:26:26Z</dcterms:modified>
</cp:coreProperties>
</file>